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CB3357-A127-41B7-9998-F41BF985206C}">
  <a:tblStyle styleId="{3ECB3357-A127-41B7-9998-F41BF98520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5.xml"/><Relationship Id="rId33" Type="http://schemas.openxmlformats.org/officeDocument/2006/relationships/font" Target="fonts/Lato-italic.fntdata"/><Relationship Id="rId10" Type="http://schemas.openxmlformats.org/officeDocument/2006/relationships/slide" Target="slides/slide4.xml"/><Relationship Id="rId32" Type="http://schemas.openxmlformats.org/officeDocument/2006/relationships/font" Target="fonts/La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Lat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d620e50f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d620e50f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d5622ba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d5622ba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d620e50f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d620e50f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d5622baa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d5622baa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d620e50f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d620e50f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d5622baa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d5622baa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d620e50f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d620e50f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d5622baa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d5622baa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d620e50f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d620e50f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d5622baa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d5622baa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66880226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66880226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66880226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66880226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66880226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66880226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66880226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66880226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a04c046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a04c046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a04c0463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a04c0463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a04c0463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a04c0463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d5622baa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d5622baa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d5622baa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d5622baa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jpg"/><Relationship Id="rId4" Type="http://schemas.openxmlformats.org/officeDocument/2006/relationships/image" Target="../media/image1.jpg"/><Relationship Id="rId5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2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Proyecto APT PepsiCo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5379000" y="4273800"/>
            <a:ext cx="37650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419" sz="800"/>
              <a:t>Gonzalo Pérez</a:t>
            </a:r>
            <a:endParaRPr sz="800"/>
          </a:p>
          <a:p>
            <a:pPr indent="0" lvl="0" marL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/>
              <a:t>Franchesca Villegas</a:t>
            </a:r>
            <a:endParaRPr sz="800"/>
          </a:p>
          <a:p>
            <a:pPr indent="0" lvl="0" marL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419" sz="800"/>
              <a:t>Dilan Olivos</a:t>
            </a:r>
            <a:r>
              <a:rPr lang="es-419" sz="800"/>
              <a:t>					Octubre 2025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Avance del proyecto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727650" y="626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Carta Gantt</a:t>
            </a:r>
            <a:endParaRPr/>
          </a:p>
        </p:txBody>
      </p:sp>
      <p:pic>
        <p:nvPicPr>
          <p:cNvPr id="98" name="Google Shape;98;p15" title="ganttmarcaagu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7100" y="1229825"/>
            <a:ext cx="5729784" cy="367722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Evidencias de documentación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165700" y="3236025"/>
            <a:ext cx="1756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/>
              <a:t>Matriz RACI</a:t>
            </a:r>
            <a:endParaRPr sz="2100"/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50" y="1502689"/>
            <a:ext cx="8031699" cy="16855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0" name="Google Shape;110;p17"/>
          <p:cNvSpPr txBox="1"/>
          <p:nvPr>
            <p:ph type="title"/>
          </p:nvPr>
        </p:nvSpPr>
        <p:spPr>
          <a:xfrm>
            <a:off x="593625" y="542900"/>
            <a:ext cx="59127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Planificación y Documentación</a:t>
            </a:r>
            <a:endParaRPr/>
          </a:p>
        </p:txBody>
      </p:sp>
      <p:pic>
        <p:nvPicPr>
          <p:cNvPr id="111" name="Google Shape;111;p17" title="sss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4225" y="3326214"/>
            <a:ext cx="5098734" cy="165048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>
            <p:ph type="title"/>
          </p:nvPr>
        </p:nvSpPr>
        <p:spPr>
          <a:xfrm>
            <a:off x="1275025" y="4275525"/>
            <a:ext cx="22722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/>
              <a:t>Matriz de Requerimientos</a:t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593625" y="542900"/>
            <a:ext cx="59127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Planificación y Documentación</a:t>
            </a:r>
            <a:endParaRPr/>
          </a:p>
        </p:txBody>
      </p:sp>
      <p:pic>
        <p:nvPicPr>
          <p:cNvPr id="118" name="Google Shape;118;p18" title="EDT_page-0001.jpg"/>
          <p:cNvPicPr preferRelativeResize="0"/>
          <p:nvPr/>
        </p:nvPicPr>
        <p:blipFill rotWithShape="1">
          <a:blip r:embed="rId3">
            <a:alphaModFix/>
          </a:blip>
          <a:srcRect b="19842" l="4943" r="5346" t="5647"/>
          <a:stretch/>
        </p:blipFill>
        <p:spPr>
          <a:xfrm>
            <a:off x="593625" y="1604575"/>
            <a:ext cx="4055450" cy="27695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9" name="Google Shape;119;p18" title="EDT_page-0002.jpg"/>
          <p:cNvPicPr preferRelativeResize="0"/>
          <p:nvPr/>
        </p:nvPicPr>
        <p:blipFill rotWithShape="1">
          <a:blip r:embed="rId4">
            <a:alphaModFix/>
          </a:blip>
          <a:srcRect b="11738" l="18600" r="18430" t="8350"/>
          <a:stretch/>
        </p:blipFill>
        <p:spPr>
          <a:xfrm>
            <a:off x="5308350" y="1670525"/>
            <a:ext cx="2527800" cy="263767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0" name="Google Shape;120;p18"/>
          <p:cNvSpPr txBox="1"/>
          <p:nvPr>
            <p:ph type="title"/>
          </p:nvPr>
        </p:nvSpPr>
        <p:spPr>
          <a:xfrm>
            <a:off x="3418500" y="4466950"/>
            <a:ext cx="2307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/>
              <a:t>EDT y Diccionario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2397600" y="393750"/>
            <a:ext cx="4348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Diagramas de casos de uso</a:t>
            </a:r>
            <a:endParaRPr/>
          </a:p>
        </p:txBody>
      </p:sp>
      <p:pic>
        <p:nvPicPr>
          <p:cNvPr id="126" name="Google Shape;126;p19" title="Diagrama General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75" y="1393150"/>
            <a:ext cx="4349550" cy="334228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7" name="Google Shape;127;p19" title="Diagrama [CU4]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3425" y="1046887"/>
            <a:ext cx="3965775" cy="18910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8" name="Google Shape;128;p19" title="Diagrama [CU1]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9150" y="3060025"/>
            <a:ext cx="3598723" cy="155007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671875" y="538950"/>
            <a:ext cx="4217400" cy="5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Diagramas de Actividades</a:t>
            </a:r>
            <a:endParaRPr/>
          </a:p>
        </p:txBody>
      </p:sp>
      <p:pic>
        <p:nvPicPr>
          <p:cNvPr id="134" name="Google Shape;134;p20" title="Diagrama Asignación de Tare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075" y="1134150"/>
            <a:ext cx="2743935" cy="385695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5" name="Google Shape;135;p20" title="Diagrama Registro de Vehículo Entran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6110" y="1134150"/>
            <a:ext cx="3327751" cy="385695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719775" y="514000"/>
            <a:ext cx="4478700" cy="5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Diagrama de Arquitectura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1" title="arquitectura_pepsico_render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1988" y="1073200"/>
            <a:ext cx="4500017" cy="376550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686275" y="582775"/>
            <a:ext cx="3221400" cy="5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/>
              <a:t>Diagrama de Clases</a:t>
            </a:r>
            <a:endParaRPr sz="2400"/>
          </a:p>
        </p:txBody>
      </p:sp>
      <p:pic>
        <p:nvPicPr>
          <p:cNvPr id="147" name="Google Shape;147;p22" title="diagrama de clas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750" y="1250700"/>
            <a:ext cx="5553725" cy="3892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641550" y="604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Modelos Entidad-Relación y Relacional</a:t>
            </a:r>
            <a:endParaRPr/>
          </a:p>
        </p:txBody>
      </p:sp>
      <p:pic>
        <p:nvPicPr>
          <p:cNvPr id="153" name="Google Shape;153;p23" title="modeloEntidadRela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950" y="1505100"/>
            <a:ext cx="5345150" cy="30236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" name="Google Shape;154;p23" title="modelo relacio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315275"/>
            <a:ext cx="4283776" cy="2374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641550" y="604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Diccionario de datos</a:t>
            </a:r>
            <a:endParaRPr/>
          </a:p>
        </p:txBody>
      </p:sp>
      <p:pic>
        <p:nvPicPr>
          <p:cNvPr id="160" name="Google Shape;160;p24" title="ddat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1875"/>
            <a:ext cx="5886450" cy="31813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1" name="Google Shape;161;p24" title="ddatos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3625" y="3276600"/>
            <a:ext cx="5829300" cy="16002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Evidencias de sistema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727650" y="582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Desarrollo usando Django</a:t>
            </a:r>
            <a:endParaRPr/>
          </a:p>
        </p:txBody>
      </p:sp>
      <p:pic>
        <p:nvPicPr>
          <p:cNvPr id="172" name="Google Shape;172;p26" title="back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475" y="1095374"/>
            <a:ext cx="2237450" cy="4175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3" name="Google Shape;173;p26" title="fronten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625" y="1095375"/>
            <a:ext cx="1690700" cy="40481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4" name="Google Shape;174;p26" title="modelsp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9725" y="1047750"/>
            <a:ext cx="3490385" cy="37212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5" name="Google Shape;175;p26" title="agendahtm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90673" y="2777275"/>
            <a:ext cx="2653476" cy="2232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624675" y="486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Algunas vistas</a:t>
            </a:r>
            <a:endParaRPr/>
          </a:p>
        </p:txBody>
      </p:sp>
      <p:pic>
        <p:nvPicPr>
          <p:cNvPr id="181" name="Google Shape;181;p27" title="ho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00" y="1077025"/>
            <a:ext cx="5699099" cy="2775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2" name="Google Shape;182;p27" title="agend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9025" y="2298354"/>
            <a:ext cx="6335230" cy="27753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624675" y="438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Pruebas automatizadas</a:t>
            </a:r>
            <a:endParaRPr/>
          </a:p>
        </p:txBody>
      </p:sp>
      <p:pic>
        <p:nvPicPr>
          <p:cNvPr id="188" name="Google Shape;188;p28" title="test unitari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700" y="1046250"/>
            <a:ext cx="3236466" cy="37439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9" name="Google Shape;189;p28" title="testcm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8350" y="3054950"/>
            <a:ext cx="4820975" cy="1735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0" name="Google Shape;190;p28" title="formu tes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8250" y="826425"/>
            <a:ext cx="2655182" cy="20728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644525" y="493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Pruebas de Seguridad</a:t>
            </a:r>
            <a:endParaRPr/>
          </a:p>
        </p:txBody>
      </p:sp>
      <p:pic>
        <p:nvPicPr>
          <p:cNvPr id="196" name="Google Shape;19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975" y="1174900"/>
            <a:ext cx="4069150" cy="25415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7" name="Google Shape;197;p29" title="WhatsApp Image 2025-11-19 at 15.53.17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922775"/>
            <a:ext cx="4468800" cy="2786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644525" y="493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Pruebas de Rendimiento</a:t>
            </a:r>
            <a:endParaRPr/>
          </a:p>
        </p:txBody>
      </p:sp>
      <p:pic>
        <p:nvPicPr>
          <p:cNvPr id="203" name="Google Shape;20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300" y="1381850"/>
            <a:ext cx="5079975" cy="31728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727650" y="582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Issues, Facilitadores y Ajustes</a:t>
            </a:r>
            <a:endParaRPr/>
          </a:p>
        </p:txBody>
      </p:sp>
      <p:graphicFrame>
        <p:nvGraphicFramePr>
          <p:cNvPr id="209" name="Google Shape;209;p31"/>
          <p:cNvGraphicFramePr/>
          <p:nvPr/>
        </p:nvGraphicFramePr>
        <p:xfrm>
          <a:off x="952500" y="15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{3ECB3357-A127-41B7-9998-F41BF985206C}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Issues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Facilitadores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Ajustes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Char char="●"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Hubo que investigar uso de herramientas de pruebas.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Char char="●"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Hubo que investigar </a:t>
                      </a:r>
                      <a:r>
                        <a:rPr lang="es-419">
                          <a:solidFill>
                            <a:schemeClr val="dk2"/>
                          </a:solidFill>
                        </a:rPr>
                        <a:t>librerías</a:t>
                      </a:r>
                      <a:r>
                        <a:rPr lang="es-419">
                          <a:solidFill>
                            <a:schemeClr val="dk2"/>
                          </a:solidFill>
                        </a:rPr>
                        <a:t> de seguridad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Char char="●"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Buena coordinación del equipo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Char char="●"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Se </a:t>
                      </a:r>
                      <a:r>
                        <a:rPr lang="es-419">
                          <a:solidFill>
                            <a:schemeClr val="dk2"/>
                          </a:solidFill>
                        </a:rPr>
                        <a:t>pasó</a:t>
                      </a:r>
                      <a:r>
                        <a:rPr lang="es-419">
                          <a:solidFill>
                            <a:schemeClr val="dk2"/>
                          </a:solidFill>
                        </a:rPr>
                        <a:t> de usar base de datos Oracle a MySQL, PostgreSQL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Char char="●"/>
                      </a:pPr>
                      <a:r>
                        <a:rPr lang="es-419">
                          <a:solidFill>
                            <a:schemeClr val="dk2"/>
                          </a:solidFill>
                        </a:rPr>
                        <a:t>Hubo que hacer pequeñas adaptaciones al proyecto para usar Render.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Próximos</a:t>
            </a:r>
            <a:r>
              <a:rPr lang="es-419"/>
              <a:t> Pasos</a:t>
            </a:r>
            <a:endParaRPr/>
          </a:p>
        </p:txBody>
      </p:sp>
      <p:sp>
        <p:nvSpPr>
          <p:cNvPr id="215" name="Google Shape;215;p32"/>
          <p:cNvSpPr txBox="1"/>
          <p:nvPr/>
        </p:nvSpPr>
        <p:spPr>
          <a:xfrm>
            <a:off x="645500" y="2271525"/>
            <a:ext cx="7772700" cy="24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-419">
                <a:solidFill>
                  <a:schemeClr val="dk2"/>
                </a:solidFill>
              </a:rPr>
              <a:t>Revisitar documentación y actualizarla con cosas que no consideramos (por ejemplo la vista de trazabilidad de supervisor)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-419">
                <a:solidFill>
                  <a:schemeClr val="dk2"/>
                </a:solidFill>
              </a:rPr>
              <a:t>Investigar y arreglar vulnerabilidades expuestas en pruebas de seguridad.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s-419">
                <a:solidFill>
                  <a:schemeClr val="dk2"/>
                </a:solidFill>
              </a:rPr>
              <a:t>Usar Jmeter </a:t>
            </a:r>
            <a:r>
              <a:rPr lang="es-419">
                <a:solidFill>
                  <a:schemeClr val="dk2"/>
                </a:solidFill>
              </a:rPr>
              <a:t>más</a:t>
            </a:r>
            <a:r>
              <a:rPr lang="es-419">
                <a:solidFill>
                  <a:schemeClr val="dk2"/>
                </a:solidFill>
              </a:rPr>
              <a:t> a fondo y refinar las pruebas correspondientes.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