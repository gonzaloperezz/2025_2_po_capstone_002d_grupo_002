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5GaFo4PC2c9VEw3PwBbVbhE2s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2A09ED-F5AF-486F-A64E-21CCC6E3FDD6}">
  <a:tblStyle styleId="{1D2A09ED-F5AF-486F-A64E-21CCC6E3FD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ba0955a97_0_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aba0955a97_0_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ba0955a97_0_116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aba0955a97_0_116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ba0955a97_0_44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aba0955a97_0_44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ba0955a97_0_6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aba0955a97_0_6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a0955a97_0_94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aba0955a97_0_94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ba0955a97_0_102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aba0955a97_0_102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3f4140e42_1_33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a3f4140e42_1_33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3f4140e42_1_4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a3f4140e42_1_4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3f4140e42_1_7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a3f4140e42_1_7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ba0955a97_0_107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aba0955a97_0_107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255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1"/>
          <p:cNvSpPr/>
          <p:nvPr/>
        </p:nvSpPr>
        <p:spPr>
          <a:xfrm>
            <a:off x="5092767" y="7368222"/>
            <a:ext cx="10694670" cy="53340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5092767" y="6322551"/>
            <a:ext cx="10694670" cy="1045671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5138402" y="6401309"/>
            <a:ext cx="106490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2" type="body"/>
          </p:nvPr>
        </p:nvSpPr>
        <p:spPr>
          <a:xfrm>
            <a:off x="4718050" y="5246439"/>
            <a:ext cx="11429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3" type="body"/>
          </p:nvPr>
        </p:nvSpPr>
        <p:spPr>
          <a:xfrm>
            <a:off x="5092767" y="7676832"/>
            <a:ext cx="1069498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9667" y="8484983"/>
            <a:ext cx="6220794" cy="2046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0952" y="10282677"/>
            <a:ext cx="4224383" cy="83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/>
          <p:nvPr/>
        </p:nvSpPr>
        <p:spPr>
          <a:xfrm>
            <a:off x="1" y="828729"/>
            <a:ext cx="4946650" cy="1168346"/>
          </a:xfrm>
          <a:prstGeom prst="rect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2"/>
          <p:cNvSpPr/>
          <p:nvPr/>
        </p:nvSpPr>
        <p:spPr>
          <a:xfrm>
            <a:off x="4998572" y="828729"/>
            <a:ext cx="152400" cy="1168346"/>
          </a:xfrm>
          <a:custGeom>
            <a:rect b="b" l="l" r="r" t="t"/>
            <a:pathLst>
              <a:path extrusionOk="0" h="6827520" w="53339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574040" y="1258411"/>
            <a:ext cx="4343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2" type="body"/>
          </p:nvPr>
        </p:nvSpPr>
        <p:spPr>
          <a:xfrm>
            <a:off x="574675" y="2911475"/>
            <a:ext cx="4343400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2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" name="Google Shape;27;p12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28" name="Google Shape;28;p12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29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" name="Google Shape;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/>
          <p:nvPr/>
        </p:nvSpPr>
        <p:spPr>
          <a:xfrm>
            <a:off x="14603006" y="1768475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3"/>
          <p:cNvSpPr/>
          <p:nvPr/>
        </p:nvSpPr>
        <p:spPr>
          <a:xfrm>
            <a:off x="10415337" y="1768476"/>
            <a:ext cx="3392804" cy="7616568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3"/>
          <p:cNvSpPr/>
          <p:nvPr/>
        </p:nvSpPr>
        <p:spPr>
          <a:xfrm>
            <a:off x="6347214" y="1813303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3"/>
          <p:cNvSpPr/>
          <p:nvPr/>
        </p:nvSpPr>
        <p:spPr>
          <a:xfrm>
            <a:off x="2235659" y="1820288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3"/>
          <p:cNvSpPr txBox="1"/>
          <p:nvPr>
            <p:ph idx="1" type="body"/>
          </p:nvPr>
        </p:nvSpPr>
        <p:spPr>
          <a:xfrm>
            <a:off x="243205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2" type="body"/>
          </p:nvPr>
        </p:nvSpPr>
        <p:spPr>
          <a:xfrm>
            <a:off x="243205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3" type="body"/>
          </p:nvPr>
        </p:nvSpPr>
        <p:spPr>
          <a:xfrm>
            <a:off x="252090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4" type="body"/>
          </p:nvPr>
        </p:nvSpPr>
        <p:spPr>
          <a:xfrm>
            <a:off x="6569873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5" type="body"/>
          </p:nvPr>
        </p:nvSpPr>
        <p:spPr>
          <a:xfrm>
            <a:off x="6569873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6" type="body"/>
          </p:nvPr>
        </p:nvSpPr>
        <p:spPr>
          <a:xfrm>
            <a:off x="6658730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7" type="body"/>
          </p:nvPr>
        </p:nvSpPr>
        <p:spPr>
          <a:xfrm>
            <a:off x="1064273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8" type="body"/>
          </p:nvPr>
        </p:nvSpPr>
        <p:spPr>
          <a:xfrm>
            <a:off x="1064273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9" type="body"/>
          </p:nvPr>
        </p:nvSpPr>
        <p:spPr>
          <a:xfrm>
            <a:off x="1073158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3" type="body"/>
          </p:nvPr>
        </p:nvSpPr>
        <p:spPr>
          <a:xfrm>
            <a:off x="14844104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4" type="body"/>
          </p:nvPr>
        </p:nvSpPr>
        <p:spPr>
          <a:xfrm>
            <a:off x="14844104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5" type="body"/>
          </p:nvPr>
        </p:nvSpPr>
        <p:spPr>
          <a:xfrm>
            <a:off x="14932961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/>
          <p:nvPr/>
        </p:nvSpPr>
        <p:spPr>
          <a:xfrm>
            <a:off x="3579241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7667696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3"/>
          <p:cNvSpPr/>
          <p:nvPr/>
        </p:nvSpPr>
        <p:spPr>
          <a:xfrm>
            <a:off x="15995650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3"/>
          <p:cNvSpPr/>
          <p:nvPr/>
        </p:nvSpPr>
        <p:spPr>
          <a:xfrm>
            <a:off x="11728450" y="571988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" name="Google Shape;54;p13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55" name="Google Shape;55;p13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100" cy="737825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63" name="Google Shape;63;p14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4" name="Google Shape;64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7" name="Google Shape;67;p14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2196"/>
            <a:ext cx="20104100" cy="752051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74" name="Google Shape;74;p15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8" name="Google Shape;78;p15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20104101" cy="74072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85" name="Google Shape;85;p16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6" name="Google Shape;86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9" name="Google Shape;89;p16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22225"/>
            <a:ext cx="20112123" cy="753468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7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96" name="Google Shape;96;p17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" name="Google Shape;9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0" name="Google Shape;100;p17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80393" y="2411901"/>
            <a:ext cx="395605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5.jp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idx="1" type="body"/>
          </p:nvPr>
        </p:nvSpPr>
        <p:spPr>
          <a:xfrm>
            <a:off x="5138402" y="6494556"/>
            <a:ext cx="1064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PTY4614</a:t>
            </a:r>
            <a:endParaRPr/>
          </a:p>
        </p:txBody>
      </p:sp>
      <p:sp>
        <p:nvSpPr>
          <p:cNvPr id="107" name="Google Shape;107;p1"/>
          <p:cNvSpPr txBox="1"/>
          <p:nvPr>
            <p:ph idx="2" type="body"/>
          </p:nvPr>
        </p:nvSpPr>
        <p:spPr>
          <a:xfrm>
            <a:off x="4205547" y="4313971"/>
            <a:ext cx="12525000" cy="18471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Proyecto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Gestión de Taller Pepsico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16388700" y="8925850"/>
            <a:ext cx="3945000" cy="25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-E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Gonzalo Pérez</a:t>
            </a:r>
            <a:endParaRPr b="1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-E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Dilan Olivos</a:t>
            </a:r>
            <a:endParaRPr b="1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-E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Franchesca Villegas</a:t>
            </a:r>
            <a:endParaRPr b="1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ba0955a97_0_0"/>
          <p:cNvSpPr txBox="1"/>
          <p:nvPr>
            <p:ph idx="1" type="body"/>
          </p:nvPr>
        </p:nvSpPr>
        <p:spPr>
          <a:xfrm>
            <a:off x="5385400" y="982600"/>
            <a:ext cx="120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Problemática y Alcance del Proyecto</a:t>
            </a:r>
            <a:endParaRPr/>
          </a:p>
        </p:txBody>
      </p:sp>
      <p:sp>
        <p:nvSpPr>
          <p:cNvPr id="114" name="Google Shape;114;g3aba0955a97_0_0"/>
          <p:cNvSpPr txBox="1"/>
          <p:nvPr/>
        </p:nvSpPr>
        <p:spPr>
          <a:xfrm>
            <a:off x="1968000" y="2518300"/>
            <a:ext cx="478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latin typeface="Verdana"/>
                <a:ea typeface="Verdana"/>
                <a:cs typeface="Verdana"/>
                <a:sym typeface="Verdana"/>
              </a:rPr>
              <a:t>Alcance del proyecto</a:t>
            </a:r>
            <a:endParaRPr b="1" sz="3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5" name="Google Shape;115;g3aba0955a97_0_0"/>
          <p:cNvSpPr/>
          <p:nvPr/>
        </p:nvSpPr>
        <p:spPr>
          <a:xfrm>
            <a:off x="532650" y="3471750"/>
            <a:ext cx="7653000" cy="1896900"/>
          </a:xfrm>
          <a:prstGeom prst="roundRect">
            <a:avLst>
              <a:gd fmla="val 16667" name="adj"/>
            </a:avLst>
          </a:prstGeom>
          <a:solidFill>
            <a:srgbClr val="9C52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Desarrollo de Plataforma Web</a:t>
            </a: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: Gestión colaborativa mediante roles, filtrando según sucursales, para Supervisores, Mecánicos y Choferes.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g3aba0955a97_0_0"/>
          <p:cNvSpPr/>
          <p:nvPr/>
        </p:nvSpPr>
        <p:spPr>
          <a:xfrm>
            <a:off x="532650" y="5768600"/>
            <a:ext cx="7653000" cy="1896900"/>
          </a:xfrm>
          <a:prstGeom prst="roundRect">
            <a:avLst>
              <a:gd fmla="val 16667" name="adj"/>
            </a:avLst>
          </a:prstGeom>
          <a:solidFill>
            <a:srgbClr val="D3752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Digitalización de Procesos</a:t>
            </a: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: 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Registro de ingresos, asignación de tareas y actualización de estados en tiempo real.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" name="Google Shape;117;g3aba0955a97_0_0"/>
          <p:cNvSpPr/>
          <p:nvPr/>
        </p:nvSpPr>
        <p:spPr>
          <a:xfrm>
            <a:off x="532650" y="8065450"/>
            <a:ext cx="7653000" cy="1896900"/>
          </a:xfrm>
          <a:prstGeom prst="roundRect">
            <a:avLst>
              <a:gd fmla="val 16667" name="adj"/>
            </a:avLst>
          </a:prstGeom>
          <a:solidFill>
            <a:srgbClr val="009F9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Gestión y Control</a:t>
            </a: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: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Administración de usuarios y visualización de información relevante.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g3aba0955a97_0_0"/>
          <p:cNvSpPr txBox="1"/>
          <p:nvPr/>
        </p:nvSpPr>
        <p:spPr>
          <a:xfrm>
            <a:off x="14625025" y="2518300"/>
            <a:ext cx="205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latin typeface="Verdana"/>
                <a:ea typeface="Verdana"/>
                <a:cs typeface="Verdana"/>
                <a:sym typeface="Verdana"/>
              </a:rPr>
              <a:t>Impacto</a:t>
            </a:r>
            <a:endParaRPr b="1" sz="3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g3aba0955a97_0_0"/>
          <p:cNvSpPr/>
          <p:nvPr/>
        </p:nvSpPr>
        <p:spPr>
          <a:xfrm>
            <a:off x="11985225" y="3257200"/>
            <a:ext cx="3708600" cy="3494100"/>
          </a:xfrm>
          <a:prstGeom prst="ellipse">
            <a:avLst/>
          </a:prstGeom>
          <a:solidFill>
            <a:srgbClr val="6DAC3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Optimización de tiempos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0" name="Google Shape;120;g3aba0955a97_0_0"/>
          <p:cNvSpPr/>
          <p:nvPr/>
        </p:nvSpPr>
        <p:spPr>
          <a:xfrm>
            <a:off x="15693825" y="4171400"/>
            <a:ext cx="3464100" cy="3250800"/>
          </a:xfrm>
          <a:prstGeom prst="ellipse">
            <a:avLst/>
          </a:prstGeom>
          <a:solidFill>
            <a:srgbClr val="6DAC3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Mayor trazabilidad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1" name="Google Shape;121;g3aba0955a97_0_0"/>
          <p:cNvSpPr/>
          <p:nvPr/>
        </p:nvSpPr>
        <p:spPr>
          <a:xfrm>
            <a:off x="12812025" y="6751300"/>
            <a:ext cx="3708600" cy="3494100"/>
          </a:xfrm>
          <a:prstGeom prst="ellipse">
            <a:avLst/>
          </a:prstGeom>
          <a:solidFill>
            <a:srgbClr val="6DAC3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Mejor comunicación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ba0955a97_0_116"/>
          <p:cNvSpPr txBox="1"/>
          <p:nvPr>
            <p:ph idx="1" type="body"/>
          </p:nvPr>
        </p:nvSpPr>
        <p:spPr>
          <a:xfrm>
            <a:off x="5385400" y="982600"/>
            <a:ext cx="120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Objetivos</a:t>
            </a:r>
            <a:endParaRPr/>
          </a:p>
        </p:txBody>
      </p:sp>
      <p:sp>
        <p:nvSpPr>
          <p:cNvPr id="127" name="Google Shape;127;g3aba0955a97_0_116"/>
          <p:cNvSpPr txBox="1"/>
          <p:nvPr/>
        </p:nvSpPr>
        <p:spPr>
          <a:xfrm>
            <a:off x="2504850" y="2679475"/>
            <a:ext cx="370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latin typeface="Verdana"/>
                <a:ea typeface="Verdana"/>
                <a:cs typeface="Verdana"/>
                <a:sym typeface="Verdana"/>
              </a:rPr>
              <a:t>Funcionalidades</a:t>
            </a:r>
            <a:endParaRPr b="1" sz="3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" name="Google Shape;128;g3aba0955a97_0_116"/>
          <p:cNvSpPr/>
          <p:nvPr/>
        </p:nvSpPr>
        <p:spPr>
          <a:xfrm>
            <a:off x="532650" y="4054000"/>
            <a:ext cx="7653000" cy="1100100"/>
          </a:xfrm>
          <a:prstGeom prst="roundRect">
            <a:avLst>
              <a:gd fmla="val 16667" name="adj"/>
            </a:avLst>
          </a:prstGeom>
          <a:solidFill>
            <a:srgbClr val="9C52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Gestión de cuentas y autenticación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g3aba0955a97_0_116"/>
          <p:cNvSpPr txBox="1"/>
          <p:nvPr/>
        </p:nvSpPr>
        <p:spPr>
          <a:xfrm>
            <a:off x="13889475" y="2679475"/>
            <a:ext cx="205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latin typeface="Verdana"/>
                <a:ea typeface="Verdana"/>
                <a:cs typeface="Verdana"/>
                <a:sym typeface="Verdana"/>
              </a:rPr>
              <a:t>Calidad</a:t>
            </a:r>
            <a:endParaRPr b="1" sz="3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" name="Google Shape;130;g3aba0955a97_0_116"/>
          <p:cNvSpPr/>
          <p:nvPr/>
        </p:nvSpPr>
        <p:spPr>
          <a:xfrm>
            <a:off x="532650" y="5368650"/>
            <a:ext cx="7653000" cy="1100100"/>
          </a:xfrm>
          <a:prstGeom prst="roundRect">
            <a:avLst>
              <a:gd fmla="val 16667" name="adj"/>
            </a:avLst>
          </a:prstGeom>
          <a:solidFill>
            <a:srgbClr val="009F9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Ingreso de vehículos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Google Shape;131;g3aba0955a97_0_116"/>
          <p:cNvSpPr/>
          <p:nvPr/>
        </p:nvSpPr>
        <p:spPr>
          <a:xfrm>
            <a:off x="532650" y="6683300"/>
            <a:ext cx="7653000" cy="1100100"/>
          </a:xfrm>
          <a:prstGeom prst="roundRect">
            <a:avLst>
              <a:gd fmla="val 16667" name="adj"/>
            </a:avLst>
          </a:prstGeom>
          <a:solidFill>
            <a:srgbClr val="D3752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Asignación y gestión de tareas	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" name="Google Shape;132;g3aba0955a97_0_116"/>
          <p:cNvSpPr/>
          <p:nvPr/>
        </p:nvSpPr>
        <p:spPr>
          <a:xfrm>
            <a:off x="532650" y="7997950"/>
            <a:ext cx="7653000" cy="1100100"/>
          </a:xfrm>
          <a:prstGeom prst="roundRect">
            <a:avLst>
              <a:gd fmla="val 16667" name="adj"/>
            </a:avLst>
          </a:prstGeom>
          <a:solidFill>
            <a:srgbClr val="BA1D3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Visualización de información relevante</a:t>
            </a: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	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3" name="Google Shape;133;g3aba0955a97_0_116"/>
          <p:cNvSpPr/>
          <p:nvPr/>
        </p:nvSpPr>
        <p:spPr>
          <a:xfrm>
            <a:off x="11088225" y="3917325"/>
            <a:ext cx="7653000" cy="1100100"/>
          </a:xfrm>
          <a:prstGeom prst="roundRect">
            <a:avLst>
              <a:gd fmla="val 16667" name="adj"/>
            </a:avLst>
          </a:prstGeom>
          <a:solidFill>
            <a:srgbClr val="9C52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Reducir tiempos de ingreso de vehículos en un 40% 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" name="Google Shape;134;g3aba0955a97_0_116"/>
          <p:cNvSpPr/>
          <p:nvPr/>
        </p:nvSpPr>
        <p:spPr>
          <a:xfrm>
            <a:off x="11088225" y="5231975"/>
            <a:ext cx="7653000" cy="1100100"/>
          </a:xfrm>
          <a:prstGeom prst="roundRect">
            <a:avLst>
              <a:gd fmla="val 16667" name="adj"/>
            </a:avLst>
          </a:prstGeom>
          <a:solidFill>
            <a:srgbClr val="009F9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Tener un sistema con tiempos de respuesta menores a 3 segundos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" name="Google Shape;135;g3aba0955a97_0_116"/>
          <p:cNvSpPr/>
          <p:nvPr/>
        </p:nvSpPr>
        <p:spPr>
          <a:xfrm>
            <a:off x="11088225" y="6546625"/>
            <a:ext cx="7653000" cy="1314600"/>
          </a:xfrm>
          <a:prstGeom prst="roundRect">
            <a:avLst>
              <a:gd fmla="val 16667" name="adj"/>
            </a:avLst>
          </a:prstGeom>
          <a:solidFill>
            <a:srgbClr val="D3752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Soportar al menos 50 </a:t>
            </a: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usuarios</a:t>
            </a: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simultáneos</a:t>
            </a: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 sin </a:t>
            </a: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degradación</a:t>
            </a: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 de </a:t>
            </a: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rendimiento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Google Shape;136;g3aba0955a97_0_116"/>
          <p:cNvSpPr/>
          <p:nvPr/>
        </p:nvSpPr>
        <p:spPr>
          <a:xfrm>
            <a:off x="11088225" y="8075775"/>
            <a:ext cx="7653000" cy="1100100"/>
          </a:xfrm>
          <a:prstGeom prst="roundRect">
            <a:avLst>
              <a:gd fmla="val 16667" name="adj"/>
            </a:avLst>
          </a:prstGeom>
          <a:solidFill>
            <a:srgbClr val="BA1D3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Aumentar trazabilidad de la información del taller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a0955a97_0_44"/>
          <p:cNvSpPr txBox="1"/>
          <p:nvPr>
            <p:ph idx="1" type="body"/>
          </p:nvPr>
        </p:nvSpPr>
        <p:spPr>
          <a:xfrm>
            <a:off x="5385400" y="982600"/>
            <a:ext cx="120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Metodología de trabajo</a:t>
            </a:r>
            <a:endParaRPr/>
          </a:p>
        </p:txBody>
      </p:sp>
      <p:sp>
        <p:nvSpPr>
          <p:cNvPr id="142" name="Google Shape;142;g3aba0955a97_0_44"/>
          <p:cNvSpPr/>
          <p:nvPr/>
        </p:nvSpPr>
        <p:spPr>
          <a:xfrm>
            <a:off x="4838650" y="2457000"/>
            <a:ext cx="10426800" cy="1348500"/>
          </a:xfrm>
          <a:prstGeom prst="rect">
            <a:avLst/>
          </a:prstGeom>
          <a:solidFill>
            <a:srgbClr val="9C52C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latin typeface="Verdana"/>
                <a:ea typeface="Verdana"/>
                <a:cs typeface="Verdana"/>
                <a:sym typeface="Verdana"/>
              </a:rPr>
              <a:t>Metodología Tradicional</a:t>
            </a:r>
            <a:endParaRPr b="1" sz="3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3" name="Google Shape;143;g3aba0955a97_0_44"/>
          <p:cNvSpPr/>
          <p:nvPr/>
        </p:nvSpPr>
        <p:spPr>
          <a:xfrm>
            <a:off x="5782525" y="4518025"/>
            <a:ext cx="4058100" cy="1946100"/>
          </a:xfrm>
          <a:prstGeom prst="roundRect">
            <a:avLst>
              <a:gd fmla="val 16667" name="adj"/>
            </a:avLst>
          </a:prstGeom>
          <a:solidFill>
            <a:srgbClr val="D375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latin typeface="Verdana"/>
                <a:ea typeface="Verdana"/>
                <a:cs typeface="Verdana"/>
                <a:sym typeface="Verdana"/>
              </a:rPr>
              <a:t>Comunicación limitada con el cliente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4" name="Google Shape;144;g3aba0955a97_0_44"/>
          <p:cNvSpPr/>
          <p:nvPr/>
        </p:nvSpPr>
        <p:spPr>
          <a:xfrm>
            <a:off x="10367950" y="4541000"/>
            <a:ext cx="3825000" cy="1946100"/>
          </a:xfrm>
          <a:prstGeom prst="roundRect">
            <a:avLst>
              <a:gd fmla="val 16667" name="adj"/>
            </a:avLst>
          </a:prstGeom>
          <a:solidFill>
            <a:srgbClr val="009F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latin typeface="Verdana"/>
                <a:ea typeface="Verdana"/>
                <a:cs typeface="Verdana"/>
                <a:sym typeface="Verdana"/>
              </a:rPr>
              <a:t>Requerimientos claros y alcance fijo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g3aba0955a97_0_44"/>
          <p:cNvSpPr/>
          <p:nvPr/>
        </p:nvSpPr>
        <p:spPr>
          <a:xfrm>
            <a:off x="8139550" y="6839525"/>
            <a:ext cx="3825000" cy="1946100"/>
          </a:xfrm>
          <a:prstGeom prst="roundRect">
            <a:avLst>
              <a:gd fmla="val 16667" name="adj"/>
            </a:avLst>
          </a:prstGeom>
          <a:solidFill>
            <a:srgbClr val="6DAC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latin typeface="Verdana"/>
                <a:ea typeface="Verdana"/>
                <a:cs typeface="Verdana"/>
                <a:sym typeface="Verdana"/>
              </a:rPr>
              <a:t>Plazos definidos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ba0955a97_0_60"/>
          <p:cNvSpPr txBox="1"/>
          <p:nvPr>
            <p:ph idx="1" type="body"/>
          </p:nvPr>
        </p:nvSpPr>
        <p:spPr>
          <a:xfrm>
            <a:off x="5385400" y="982600"/>
            <a:ext cx="120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Cronograma de trabajo</a:t>
            </a:r>
            <a:endParaRPr/>
          </a:p>
        </p:txBody>
      </p:sp>
      <p:graphicFrame>
        <p:nvGraphicFramePr>
          <p:cNvPr id="151" name="Google Shape;151;g3aba0955a97_0_60"/>
          <p:cNvGraphicFramePr/>
          <p:nvPr/>
        </p:nvGraphicFramePr>
        <p:xfrm>
          <a:off x="1286688" y="245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{1D2A09ED-F5AF-486F-A64E-21CCC6E3FDD6}</a:tableStyleId>
              </a:tblPr>
              <a:tblGrid>
                <a:gridCol w="4284625"/>
              </a:tblGrid>
              <a:tr h="117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Fase 1</a:t>
                      </a:r>
                      <a:r>
                        <a:rPr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 Reconocimiento del caso</a:t>
                      </a:r>
                      <a:endParaRPr sz="2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solidFill>
                      <a:srgbClr val="7EBFE6"/>
                    </a:solidFill>
                  </a:tcPr>
                </a:tc>
              </a:tr>
              <a:tr h="117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Fase 2</a:t>
                      </a:r>
                      <a:r>
                        <a:rPr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 Gestión de proyecto y documentación</a:t>
                      </a:r>
                      <a:endParaRPr sz="2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solidFill>
                      <a:srgbClr val="7EBFE6"/>
                    </a:solidFill>
                  </a:tcPr>
                </a:tc>
              </a:tr>
              <a:tr h="117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Fase 3</a:t>
                      </a:r>
                      <a:r>
                        <a:rPr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 Diseño de base de datos</a:t>
                      </a:r>
                      <a:endParaRPr sz="2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solidFill>
                      <a:srgbClr val="7EBFE6"/>
                    </a:solidFill>
                  </a:tcPr>
                </a:tc>
              </a:tr>
              <a:tr h="117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Fase 4</a:t>
                      </a:r>
                      <a:r>
                        <a:rPr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 Desarrollo frontend</a:t>
                      </a:r>
                      <a:endParaRPr sz="2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solidFill>
                      <a:srgbClr val="7EBFE6"/>
                    </a:solidFill>
                  </a:tcPr>
                </a:tc>
              </a:tr>
              <a:tr h="117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Fase 5</a:t>
                      </a:r>
                      <a:r>
                        <a:rPr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 Desarrollo backend</a:t>
                      </a:r>
                      <a:endParaRPr sz="2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solidFill>
                      <a:srgbClr val="7EBFE6"/>
                    </a:solidFill>
                  </a:tcPr>
                </a:tc>
              </a:tr>
              <a:tr h="117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Fase 6</a:t>
                      </a:r>
                      <a:r>
                        <a:rPr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 Diseño de consultas para reportes y dashboard</a:t>
                      </a:r>
                      <a:endParaRPr sz="2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solidFill>
                      <a:srgbClr val="7EBFE6"/>
                    </a:solidFill>
                  </a:tcPr>
                </a:tc>
              </a:tr>
              <a:tr h="117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Fase 7</a:t>
                      </a:r>
                      <a:r>
                        <a:rPr lang="es-ES" sz="2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 Control de calidad</a:t>
                      </a:r>
                      <a:endParaRPr sz="2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solidFill>
                      <a:srgbClr val="7EBFE6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g3aba0955a97_0_60"/>
          <p:cNvSpPr/>
          <p:nvPr/>
        </p:nvSpPr>
        <p:spPr>
          <a:xfrm>
            <a:off x="6132300" y="2451600"/>
            <a:ext cx="3371400" cy="1173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1 semana 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01 al 07 sept.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3" name="Google Shape;153;g3aba0955a97_0_60"/>
          <p:cNvSpPr/>
          <p:nvPr/>
        </p:nvSpPr>
        <p:spPr>
          <a:xfrm>
            <a:off x="6132300" y="3625200"/>
            <a:ext cx="3371400" cy="1173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5 semanas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08 de sept. al 08 de oct.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g3aba0955a97_0_60"/>
          <p:cNvSpPr/>
          <p:nvPr/>
        </p:nvSpPr>
        <p:spPr>
          <a:xfrm>
            <a:off x="6132300" y="4798550"/>
            <a:ext cx="3371400" cy="1173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1 semana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09 al 15 de oct.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g3aba0955a97_0_60"/>
          <p:cNvSpPr/>
          <p:nvPr/>
        </p:nvSpPr>
        <p:spPr>
          <a:xfrm>
            <a:off x="6132300" y="5971963"/>
            <a:ext cx="3371400" cy="1173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2 semanas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13 al 27 de oct.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6" name="Google Shape;156;g3aba0955a97_0_60"/>
          <p:cNvSpPr/>
          <p:nvPr/>
        </p:nvSpPr>
        <p:spPr>
          <a:xfrm>
            <a:off x="6132300" y="7145500"/>
            <a:ext cx="3371400" cy="1173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2 semanas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27 de oct. al 09 de nov.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7" name="Google Shape;157;g3aba0955a97_0_60"/>
          <p:cNvSpPr/>
          <p:nvPr/>
        </p:nvSpPr>
        <p:spPr>
          <a:xfrm>
            <a:off x="6132300" y="8318750"/>
            <a:ext cx="3371400" cy="1173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2 días 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10 al 11 de nov.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g3aba0955a97_0_60"/>
          <p:cNvSpPr/>
          <p:nvPr/>
        </p:nvSpPr>
        <p:spPr>
          <a:xfrm>
            <a:off x="6132300" y="9492450"/>
            <a:ext cx="3371400" cy="1173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2 semanas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12 al 23 de nov.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g3aba0955a97_0_60"/>
          <p:cNvSpPr txBox="1"/>
          <p:nvPr/>
        </p:nvSpPr>
        <p:spPr>
          <a:xfrm>
            <a:off x="12816800" y="1721500"/>
            <a:ext cx="404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latin typeface="Verdana"/>
                <a:ea typeface="Verdana"/>
                <a:cs typeface="Verdana"/>
                <a:sym typeface="Verdana"/>
              </a:rPr>
              <a:t>Artefactos relevantes</a:t>
            </a:r>
            <a:endParaRPr b="1"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0" name="Google Shape;160;g3aba0955a97_0_60"/>
          <p:cNvSpPr/>
          <p:nvPr/>
        </p:nvSpPr>
        <p:spPr>
          <a:xfrm>
            <a:off x="11005400" y="2530950"/>
            <a:ext cx="7263600" cy="1014900"/>
          </a:xfrm>
          <a:prstGeom prst="rect">
            <a:avLst/>
          </a:prstGeom>
          <a:solidFill>
            <a:srgbClr val="009F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Conocimiento del caso y entrevista con el cliente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1" name="Google Shape;161;g3aba0955a97_0_60"/>
          <p:cNvSpPr/>
          <p:nvPr/>
        </p:nvSpPr>
        <p:spPr>
          <a:xfrm>
            <a:off x="11005400" y="3704425"/>
            <a:ext cx="7263600" cy="1014900"/>
          </a:xfrm>
          <a:prstGeom prst="rect">
            <a:avLst/>
          </a:prstGeom>
          <a:solidFill>
            <a:srgbClr val="009F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Acta de constitución, ERS, Mockups, Diagramas de casos de uso y actividades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2" name="Google Shape;162;g3aba0955a97_0_60"/>
          <p:cNvSpPr/>
          <p:nvPr/>
        </p:nvSpPr>
        <p:spPr>
          <a:xfrm>
            <a:off x="11005400" y="4877900"/>
            <a:ext cx="7263600" cy="1014900"/>
          </a:xfrm>
          <a:prstGeom prst="rect">
            <a:avLst/>
          </a:prstGeom>
          <a:solidFill>
            <a:srgbClr val="009F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Modelo de datos lógico, Modelo de datos relacional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g3aba0955a97_0_60"/>
          <p:cNvSpPr/>
          <p:nvPr/>
        </p:nvSpPr>
        <p:spPr>
          <a:xfrm>
            <a:off x="11005400" y="6051375"/>
            <a:ext cx="7263600" cy="1014900"/>
          </a:xfrm>
          <a:prstGeom prst="rect">
            <a:avLst/>
          </a:prstGeom>
          <a:solidFill>
            <a:srgbClr val="009F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Código</a:t>
            </a: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 de frontend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g3aba0955a97_0_60"/>
          <p:cNvSpPr/>
          <p:nvPr/>
        </p:nvSpPr>
        <p:spPr>
          <a:xfrm>
            <a:off x="11005400" y="7811588"/>
            <a:ext cx="7263600" cy="1014900"/>
          </a:xfrm>
          <a:prstGeom prst="rect">
            <a:avLst/>
          </a:prstGeom>
          <a:solidFill>
            <a:srgbClr val="009F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Código de backend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5" name="Google Shape;165;g3aba0955a97_0_60"/>
          <p:cNvSpPr/>
          <p:nvPr/>
        </p:nvSpPr>
        <p:spPr>
          <a:xfrm>
            <a:off x="11005400" y="9571800"/>
            <a:ext cx="7263600" cy="1014900"/>
          </a:xfrm>
          <a:prstGeom prst="rect">
            <a:avLst/>
          </a:prstGeom>
          <a:solidFill>
            <a:srgbClr val="009F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Plan de pruebas, resultados de las pruebas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66" name="Google Shape;166;g3aba0955a97_0_60"/>
          <p:cNvCxnSpPr>
            <a:stCxn id="152" idx="3"/>
            <a:endCxn id="160" idx="1"/>
          </p:cNvCxnSpPr>
          <p:nvPr/>
        </p:nvCxnSpPr>
        <p:spPr>
          <a:xfrm>
            <a:off x="9503700" y="3038400"/>
            <a:ext cx="150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g3aba0955a97_0_60"/>
          <p:cNvCxnSpPr>
            <a:stCxn id="153" idx="3"/>
            <a:endCxn id="161" idx="1"/>
          </p:cNvCxnSpPr>
          <p:nvPr/>
        </p:nvCxnSpPr>
        <p:spPr>
          <a:xfrm>
            <a:off x="9503700" y="4212000"/>
            <a:ext cx="150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g3aba0955a97_0_60"/>
          <p:cNvCxnSpPr>
            <a:stCxn id="154" idx="3"/>
            <a:endCxn id="162" idx="1"/>
          </p:cNvCxnSpPr>
          <p:nvPr/>
        </p:nvCxnSpPr>
        <p:spPr>
          <a:xfrm>
            <a:off x="9503700" y="5385350"/>
            <a:ext cx="150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g3aba0955a97_0_60"/>
          <p:cNvCxnSpPr>
            <a:stCxn id="155" idx="3"/>
            <a:endCxn id="163" idx="1"/>
          </p:cNvCxnSpPr>
          <p:nvPr/>
        </p:nvCxnSpPr>
        <p:spPr>
          <a:xfrm>
            <a:off x="9503700" y="6558763"/>
            <a:ext cx="150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g3aba0955a97_0_60"/>
          <p:cNvCxnSpPr>
            <a:stCxn id="156" idx="3"/>
            <a:endCxn id="164" idx="1"/>
          </p:cNvCxnSpPr>
          <p:nvPr/>
        </p:nvCxnSpPr>
        <p:spPr>
          <a:xfrm>
            <a:off x="9503700" y="7732300"/>
            <a:ext cx="1501800" cy="5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g3aba0955a97_0_60"/>
          <p:cNvCxnSpPr>
            <a:stCxn id="157" idx="3"/>
            <a:endCxn id="164" idx="1"/>
          </p:cNvCxnSpPr>
          <p:nvPr/>
        </p:nvCxnSpPr>
        <p:spPr>
          <a:xfrm flipH="1" rot="10800000">
            <a:off x="9503700" y="8319050"/>
            <a:ext cx="1501800" cy="5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g3aba0955a97_0_60"/>
          <p:cNvCxnSpPr>
            <a:stCxn id="158" idx="3"/>
            <a:endCxn id="165" idx="1"/>
          </p:cNvCxnSpPr>
          <p:nvPr/>
        </p:nvCxnSpPr>
        <p:spPr>
          <a:xfrm>
            <a:off x="9503700" y="10079250"/>
            <a:ext cx="150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 txBox="1"/>
          <p:nvPr>
            <p:ph idx="1" type="body"/>
          </p:nvPr>
        </p:nvSpPr>
        <p:spPr>
          <a:xfrm>
            <a:off x="5416050" y="1013252"/>
            <a:ext cx="975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Caso de uso principal </a:t>
            </a:r>
            <a:endParaRPr/>
          </a:p>
        </p:txBody>
      </p:sp>
      <p:grpSp>
        <p:nvGrpSpPr>
          <p:cNvPr id="178" name="Google Shape;178;p2"/>
          <p:cNvGrpSpPr/>
          <p:nvPr/>
        </p:nvGrpSpPr>
        <p:grpSpPr>
          <a:xfrm>
            <a:off x="1455100" y="2230300"/>
            <a:ext cx="17193900" cy="7607400"/>
            <a:chOff x="1455100" y="2196000"/>
            <a:chExt cx="17193900" cy="7607400"/>
          </a:xfrm>
        </p:grpSpPr>
        <p:sp>
          <p:nvSpPr>
            <p:cNvPr id="179" name="Google Shape;179;p2"/>
            <p:cNvSpPr/>
            <p:nvPr/>
          </p:nvSpPr>
          <p:spPr>
            <a:xfrm>
              <a:off x="1455100" y="2196000"/>
              <a:ext cx="17193900" cy="26013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455100" y="4730700"/>
              <a:ext cx="17193900" cy="26013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455100" y="7332000"/>
              <a:ext cx="17193900" cy="24714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2"/>
          <p:cNvSpPr txBox="1"/>
          <p:nvPr/>
        </p:nvSpPr>
        <p:spPr>
          <a:xfrm>
            <a:off x="1455100" y="2196000"/>
            <a:ext cx="1244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Verdana"/>
                <a:ea typeface="Verdana"/>
                <a:cs typeface="Verdana"/>
                <a:sym typeface="Verdana"/>
              </a:rPr>
              <a:t>Chofer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2"/>
          <p:cNvSpPr txBox="1"/>
          <p:nvPr/>
        </p:nvSpPr>
        <p:spPr>
          <a:xfrm>
            <a:off x="1455100" y="4764000"/>
            <a:ext cx="1612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Verdana"/>
                <a:ea typeface="Verdana"/>
                <a:cs typeface="Verdana"/>
                <a:sym typeface="Verdana"/>
              </a:rPr>
              <a:t>Supervisor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4" name="Google Shape;184;p2"/>
          <p:cNvSpPr txBox="1"/>
          <p:nvPr/>
        </p:nvSpPr>
        <p:spPr>
          <a:xfrm>
            <a:off x="1455100" y="7332000"/>
            <a:ext cx="1974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Verdana"/>
                <a:ea typeface="Verdana"/>
                <a:cs typeface="Verdana"/>
                <a:sym typeface="Verdana"/>
              </a:rPr>
              <a:t>Mecánico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2025375" y="3192575"/>
            <a:ext cx="674100" cy="6129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"/>
          <p:cNvSpPr/>
          <p:nvPr/>
        </p:nvSpPr>
        <p:spPr>
          <a:xfrm>
            <a:off x="16858475" y="5911450"/>
            <a:ext cx="674100" cy="612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3986875" y="2947350"/>
            <a:ext cx="1612200" cy="1103350"/>
          </a:xfrm>
          <a:prstGeom prst="flowChart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Ingresa vehículo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8" name="Google Shape;188;p2"/>
          <p:cNvSpPr/>
          <p:nvPr/>
        </p:nvSpPr>
        <p:spPr>
          <a:xfrm>
            <a:off x="3658975" y="5482313"/>
            <a:ext cx="2268000" cy="1103350"/>
          </a:xfrm>
          <a:prstGeom prst="flowChart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Recibe notificación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6550150" y="5482325"/>
            <a:ext cx="2268000" cy="1103350"/>
          </a:xfrm>
          <a:prstGeom prst="flowChart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Asigna tarea a mecánico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6550150" y="8016025"/>
            <a:ext cx="2268000" cy="1103350"/>
          </a:xfrm>
          <a:prstGeom prst="flowChart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Recibe tarea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9645200" y="8016025"/>
            <a:ext cx="2700475" cy="1103350"/>
          </a:xfrm>
          <a:prstGeom prst="flowChart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Agrega observaciones a tarea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2" name="Google Shape;192;p2"/>
          <p:cNvSpPr/>
          <p:nvPr/>
        </p:nvSpPr>
        <p:spPr>
          <a:xfrm>
            <a:off x="13172738" y="8016025"/>
            <a:ext cx="2268000" cy="1103350"/>
          </a:xfrm>
          <a:prstGeom prst="flowChart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Actualiza estado de tarea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3" name="Google Shape;193;p2"/>
          <p:cNvSpPr/>
          <p:nvPr/>
        </p:nvSpPr>
        <p:spPr>
          <a:xfrm>
            <a:off x="13172750" y="5666225"/>
            <a:ext cx="2268000" cy="1103350"/>
          </a:xfrm>
          <a:prstGeom prst="flowChartProcess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Verdana"/>
                <a:ea typeface="Verdana"/>
                <a:cs typeface="Verdana"/>
                <a:sym typeface="Verdana"/>
              </a:rPr>
              <a:t>Autoriza salida de vehículo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94" name="Google Shape;194;p2"/>
          <p:cNvCxnSpPr>
            <a:stCxn id="185" idx="6"/>
            <a:endCxn id="187" idx="1"/>
          </p:cNvCxnSpPr>
          <p:nvPr/>
        </p:nvCxnSpPr>
        <p:spPr>
          <a:xfrm>
            <a:off x="2699475" y="3499025"/>
            <a:ext cx="128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"/>
          <p:cNvCxnSpPr>
            <a:stCxn id="187" idx="2"/>
            <a:endCxn id="188" idx="0"/>
          </p:cNvCxnSpPr>
          <p:nvPr/>
        </p:nvCxnSpPr>
        <p:spPr>
          <a:xfrm>
            <a:off x="4792975" y="4050700"/>
            <a:ext cx="0" cy="14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"/>
          <p:cNvCxnSpPr>
            <a:stCxn id="188" idx="3"/>
            <a:endCxn id="189" idx="1"/>
          </p:cNvCxnSpPr>
          <p:nvPr/>
        </p:nvCxnSpPr>
        <p:spPr>
          <a:xfrm>
            <a:off x="5926975" y="6033988"/>
            <a:ext cx="62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"/>
          <p:cNvCxnSpPr>
            <a:stCxn id="189" idx="2"/>
            <a:endCxn id="190" idx="0"/>
          </p:cNvCxnSpPr>
          <p:nvPr/>
        </p:nvCxnSpPr>
        <p:spPr>
          <a:xfrm>
            <a:off x="7684150" y="6585675"/>
            <a:ext cx="0" cy="143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"/>
          <p:cNvCxnSpPr>
            <a:stCxn id="190" idx="3"/>
            <a:endCxn id="191" idx="1"/>
          </p:cNvCxnSpPr>
          <p:nvPr/>
        </p:nvCxnSpPr>
        <p:spPr>
          <a:xfrm>
            <a:off x="8818150" y="8567700"/>
            <a:ext cx="82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"/>
          <p:cNvCxnSpPr>
            <a:stCxn id="191" idx="3"/>
            <a:endCxn id="192" idx="1"/>
          </p:cNvCxnSpPr>
          <p:nvPr/>
        </p:nvCxnSpPr>
        <p:spPr>
          <a:xfrm>
            <a:off x="12345675" y="8567700"/>
            <a:ext cx="82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"/>
          <p:cNvCxnSpPr>
            <a:stCxn id="192" idx="0"/>
            <a:endCxn id="193" idx="2"/>
          </p:cNvCxnSpPr>
          <p:nvPr/>
        </p:nvCxnSpPr>
        <p:spPr>
          <a:xfrm rot="10800000">
            <a:off x="14306738" y="6769525"/>
            <a:ext cx="0" cy="12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"/>
          <p:cNvCxnSpPr>
            <a:stCxn id="193" idx="3"/>
            <a:endCxn id="186" idx="2"/>
          </p:cNvCxnSpPr>
          <p:nvPr/>
        </p:nvCxnSpPr>
        <p:spPr>
          <a:xfrm>
            <a:off x="15440750" y="6217900"/>
            <a:ext cx="141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ba0955a97_0_94"/>
          <p:cNvSpPr txBox="1"/>
          <p:nvPr>
            <p:ph idx="1" type="body"/>
          </p:nvPr>
        </p:nvSpPr>
        <p:spPr>
          <a:xfrm>
            <a:off x="5385400" y="982600"/>
            <a:ext cx="120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Stack Tecnológico y Arquitectura</a:t>
            </a:r>
            <a:endParaRPr/>
          </a:p>
        </p:txBody>
      </p:sp>
      <p:sp>
        <p:nvSpPr>
          <p:cNvPr id="207" name="Google Shape;207;g3aba0955a97_0_94"/>
          <p:cNvSpPr/>
          <p:nvPr/>
        </p:nvSpPr>
        <p:spPr>
          <a:xfrm>
            <a:off x="532650" y="4115375"/>
            <a:ext cx="7653000" cy="1896900"/>
          </a:xfrm>
          <a:prstGeom prst="roundRect">
            <a:avLst>
              <a:gd fmla="val 16667" name="adj"/>
            </a:avLst>
          </a:prstGeom>
          <a:solidFill>
            <a:srgbClr val="9C52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Backend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Python + Django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8" name="Google Shape;208;g3aba0955a97_0_94"/>
          <p:cNvSpPr/>
          <p:nvPr/>
        </p:nvSpPr>
        <p:spPr>
          <a:xfrm>
            <a:off x="532650" y="6689850"/>
            <a:ext cx="7653000" cy="1896900"/>
          </a:xfrm>
          <a:prstGeom prst="roundRect">
            <a:avLst>
              <a:gd fmla="val 16667" name="adj"/>
            </a:avLst>
          </a:prstGeom>
          <a:solidFill>
            <a:srgbClr val="D3752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Frontend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Verdana"/>
                <a:ea typeface="Verdana"/>
                <a:cs typeface="Verdana"/>
                <a:sym typeface="Verdana"/>
              </a:rPr>
              <a:t>Html5 + Bootstrap 5 + HTMX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9" name="Google Shape;209;g3aba0955a97_0_94" title="arquitectura_pepsico_render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0375" y="2965100"/>
            <a:ext cx="7890250" cy="66023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ba0955a97_0_102"/>
          <p:cNvSpPr txBox="1"/>
          <p:nvPr>
            <p:ph idx="1" type="body"/>
          </p:nvPr>
        </p:nvSpPr>
        <p:spPr>
          <a:xfrm>
            <a:off x="5385400" y="1074525"/>
            <a:ext cx="120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Pruebas</a:t>
            </a:r>
            <a:endParaRPr/>
          </a:p>
        </p:txBody>
      </p:sp>
      <p:pic>
        <p:nvPicPr>
          <p:cNvPr id="215" name="Google Shape;215;g3aba0955a97_0_102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3438" y="2640075"/>
            <a:ext cx="10757226" cy="66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3f4140e42_1_33"/>
          <p:cNvSpPr txBox="1"/>
          <p:nvPr>
            <p:ph idx="1" type="body"/>
          </p:nvPr>
        </p:nvSpPr>
        <p:spPr>
          <a:xfrm>
            <a:off x="5385400" y="1074525"/>
            <a:ext cx="120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Pruebas</a:t>
            </a:r>
            <a:endParaRPr/>
          </a:p>
        </p:txBody>
      </p:sp>
      <p:pic>
        <p:nvPicPr>
          <p:cNvPr id="221" name="Google Shape;221;g3a3f4140e42_1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50" y="8845050"/>
            <a:ext cx="17547926" cy="10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a3f4140e42_1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275" y="3389997"/>
            <a:ext cx="8243625" cy="45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a3f4140e42_1_33" title="WhatsApp Image 2025-11-19 at 15.53.17.jpeg"/>
          <p:cNvPicPr preferRelativeResize="0"/>
          <p:nvPr/>
        </p:nvPicPr>
        <p:blipFill rotWithShape="1">
          <a:blip r:embed="rId5">
            <a:alphaModFix/>
          </a:blip>
          <a:srcRect b="0" l="0" r="73460" t="57147"/>
          <a:stretch/>
        </p:blipFill>
        <p:spPr>
          <a:xfrm>
            <a:off x="12416700" y="2708113"/>
            <a:ext cx="5854250" cy="5893132"/>
          </a:xfrm>
          <a:prstGeom prst="rect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ile:OWASP ZAP logo.svg - Wikimedia Commons" id="224" name="Google Shape;224;g3a3f4140e42_1_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54650" y="768925"/>
            <a:ext cx="1654009" cy="1695401"/>
          </a:xfrm>
          <a:prstGeom prst="rect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ile:Apache JMeter.png - Wikipedia" id="225" name="Google Shape;225;g3a3f4140e42_1_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95863" y="2464325"/>
            <a:ext cx="2174955" cy="738900"/>
          </a:xfrm>
          <a:prstGeom prst="rect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3f4140e42_1_40"/>
          <p:cNvSpPr txBox="1"/>
          <p:nvPr>
            <p:ph idx="1" type="body"/>
          </p:nvPr>
        </p:nvSpPr>
        <p:spPr>
          <a:xfrm>
            <a:off x="5385400" y="1074525"/>
            <a:ext cx="120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Evidencias</a:t>
            </a:r>
            <a:endParaRPr/>
          </a:p>
        </p:txBody>
      </p:sp>
      <p:pic>
        <p:nvPicPr>
          <p:cNvPr descr="Archivo:Camera-video.svg - Wikipedia, la enciclopedia libre" id="231" name="Google Shape;231;g3a3f4140e42_1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499" y="2118225"/>
            <a:ext cx="8215352" cy="8215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3f4140e42_1_7"/>
          <p:cNvSpPr/>
          <p:nvPr/>
        </p:nvSpPr>
        <p:spPr>
          <a:xfrm>
            <a:off x="4170775" y="1537550"/>
            <a:ext cx="12412800" cy="6865200"/>
          </a:xfrm>
          <a:prstGeom prst="rect">
            <a:avLst/>
          </a:prstGeom>
          <a:solidFill>
            <a:srgbClr val="7EBF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latin typeface="Verdana"/>
                <a:ea typeface="Verdana"/>
                <a:cs typeface="Verdana"/>
                <a:sym typeface="Verdana"/>
              </a:rPr>
              <a:t>¿Dudas </a:t>
            </a:r>
            <a:endParaRPr b="1" sz="7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latin typeface="Verdana"/>
                <a:ea typeface="Verdana"/>
                <a:cs typeface="Verdana"/>
                <a:sym typeface="Verdana"/>
              </a:rPr>
              <a:t>o preguntas?</a:t>
            </a:r>
            <a:endParaRPr b="1" sz="7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ba0955a97_0_107"/>
          <p:cNvSpPr txBox="1"/>
          <p:nvPr>
            <p:ph idx="1" type="body"/>
          </p:nvPr>
        </p:nvSpPr>
        <p:spPr>
          <a:xfrm>
            <a:off x="5385400" y="1074525"/>
            <a:ext cx="1208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Conclusiones y Reflexiones</a:t>
            </a:r>
            <a:endParaRPr/>
          </a:p>
        </p:txBody>
      </p:sp>
      <p:sp>
        <p:nvSpPr>
          <p:cNvPr id="242" name="Google Shape;242;g3aba0955a97_0_107"/>
          <p:cNvSpPr/>
          <p:nvPr/>
        </p:nvSpPr>
        <p:spPr>
          <a:xfrm>
            <a:off x="4440425" y="4261475"/>
            <a:ext cx="3555300" cy="2786400"/>
          </a:xfrm>
          <a:prstGeom prst="roundRect">
            <a:avLst>
              <a:gd fmla="val 16667" name="adj"/>
            </a:avLst>
          </a:prstGeom>
          <a:solidFill>
            <a:srgbClr val="9C52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Conclusiones 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de proyecto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3" name="Google Shape;243;g3aba0955a97_0_107"/>
          <p:cNvSpPr/>
          <p:nvPr/>
        </p:nvSpPr>
        <p:spPr>
          <a:xfrm>
            <a:off x="11428875" y="4261475"/>
            <a:ext cx="3555300" cy="2786400"/>
          </a:xfrm>
          <a:prstGeom prst="roundRect">
            <a:avLst>
              <a:gd fmla="val 16667" name="adj"/>
            </a:avLst>
          </a:prstGeom>
          <a:solidFill>
            <a:srgbClr val="D3752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latin typeface="Verdana"/>
                <a:ea typeface="Verdana"/>
                <a:cs typeface="Verdana"/>
                <a:sym typeface="Verdana"/>
              </a:rPr>
              <a:t>Reflexiones finales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2021-04-02T01:36:00Z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Creator">
    <vt:lpwstr>Adobe Illustrator 25.2 (Macintosh)</vt:lpwstr>
  </property>
  <property fmtid="{D5CDD505-2E9C-101B-9397-08002B2CF9AE}" pid="4" name="LastSaved">
    <vt:filetime>2021-04-02T00:00:00Z</vt:filetime>
  </property>
  <property fmtid="{D5CDD505-2E9C-101B-9397-08002B2CF9AE}" pid="5" name="ContentTypeId">
    <vt:lpwstr>0x0101004E9A3AE23414AD41A4F4D6368514CED2</vt:lpwstr>
  </property>
</Properties>
</file>